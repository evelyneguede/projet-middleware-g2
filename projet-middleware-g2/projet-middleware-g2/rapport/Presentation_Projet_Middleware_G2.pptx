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88F3624-AE78-4A09-ACF6-1B7402E58113}">
          <p14:sldIdLst>
            <p14:sldId id="256"/>
            <p14:sldId id="257"/>
            <p14:sldId id="258"/>
          </p14:sldIdLst>
        </p14:section>
        <p14:section name="Développement" id="{20D04F97-7988-06EB-611C-BCE3F23B969E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onclusion" id="{B19595FE-4A4F-ACA7-A633-01CA21542D49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4150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groupe et du sujet : une plateforme d'hôpital où trois middlewares sont rendus observables : Tomcat (web), Keycloak (identité) et RabbitMQ (messages).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acteurs humains : patient, médecin, agent d'accueil, plus le service Notification. Deux exigences : la sécurité (rôles) et la fiabilité (aucun message perdu).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Tomcat : serveur web Java. Keycloak : authentification et rôles via jeton JWT. RabbitMQ : file d'attente asynchrone entre Rendez-vous et Notification. Aussi : PostgreSQL pour la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Sans middleware : Rendez-vous appelle Notification en HTTP direct. Si Notification est arrêtée, le rendez-vous échoue ou la notification est perdue. La sécurité et le serveur web sont à écrire soi-même.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 schéma : 1 le client se connecte à Keycloak et reçoit un jeton. 2 Il appelle Tomcat avec le jeton. 3 Tomcat vérifie la signature. 4 Enregistrement en base. 5 Publication du message dans RabbitMQ. 6 Livraison au consommateur Notification dès qu'il est disponible.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tourne dans Docker Desktop sur Windows 11 (WSL 2). Point rencontré : JDK 25 installé par défaut, remplacé par JDK 17. Les captures de chaque console sont dans le rapport.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Keycloak : 401 sans jeton, 403 avec le mauvais rôle, 200 ou 201 avec le bon. Tomcat : le journal montre AVANT, KEYCLOAK, BASE, RABBITMQ, APRES pour une même requête, avec le nom du thread de traitement.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obligatoire. Pendant l'arrêt, 15 rendez-vous sont créés (n°3 à 17) sans aucun refus. La file affiche Ready = 15. À la relance, les 15 notifications sont traitées une par seconde, de 00:17:05 à 00:17:20, chacune acquittée. Rien n'est perdu.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Sans RabbitMQ : couplage fort et pertes. Sans Keycloak : sécurité à recoder, sans gestion centralisée. Sans Tomcat : serveur web à écrire. Avec : les effets sont visibles dans les consoles et les journaux.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Bilan : chaque middleware résout un problème précis et son effet est observable. Limite connue : notification perdue si RabbitMQ est arrêté pendant la création, à corriger avec une table outbox. Puis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78892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Plateforme hospitalière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de rendez-vous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7889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2"/>
                </a:solidFill>
              </a:rPr>
              <a:t>Projet Middleware – Groupe 2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Tomcat · Keycloak · RabbitMQ</a:t>
            </a:r>
            <a:endParaRPr lang="en-US" sz="18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Guede Ange · Dianka Maxwel · Goho Fealloh Johann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Un hôpital, trois acteurs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Prendre un rendez-vous, consulter un agenda, gérer l'accueil : des données sensibles et un service qui ne doit jamais perdre un rendez-vous.</a:t>
            </a:r>
            <a:endParaRPr lang="en-US" sz="1600" dirty="0"/>
          </a:p>
        </p:txBody>
      </p:sp>
      <p:sp>
        <p:nvSpPr>
          <p:cNvPr id="4" name="exigence securite"/>
          <p:cNvSpPr/>
          <p:nvPr/>
        </p:nvSpPr>
        <p:spPr>
          <a:xfrm>
            <a:off x="457200" y="2560320"/>
            <a:ext cx="3840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51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Sécurité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Qui a le droit de faire quoi ?</a:t>
            </a:r>
            <a:endParaRPr lang="en-US" sz="1400" dirty="0"/>
          </a:p>
        </p:txBody>
      </p:sp>
      <p:sp>
        <p:nvSpPr>
          <p:cNvPr id="6" name="exigence fiabilite"/>
          <p:cNvSpPr/>
          <p:nvPr/>
        </p:nvSpPr>
        <p:spPr>
          <a:xfrm>
            <a:off x="457200" y="3611880"/>
            <a:ext cx="3840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703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Fiabilité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Aucun message perdu, même en cas de panne</a:t>
            </a:r>
            <a:endParaRPr lang="en-US" sz="1400" dirty="0"/>
          </a:p>
        </p:txBody>
      </p:sp>
      <p:sp>
        <p:nvSpPr>
          <p:cNvPr id="8" name="acteur Patient"/>
          <p:cNvSpPr/>
          <p:nvPr/>
        </p:nvSpPr>
        <p:spPr>
          <a:xfrm>
            <a:off x="4754880" y="118872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P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325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Patient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Prend rendez-vous, voit les siens</a:t>
            </a:r>
            <a:endParaRPr lang="en-US" sz="1600" dirty="0"/>
          </a:p>
        </p:txBody>
      </p:sp>
      <p:sp>
        <p:nvSpPr>
          <p:cNvPr id="12" name="acteur Médecin"/>
          <p:cNvSpPr/>
          <p:nvPr/>
        </p:nvSpPr>
        <p:spPr>
          <a:xfrm>
            <a:off x="4754880" y="228600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24688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377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M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423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Médecin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Consulte l'agenda, valide</a:t>
            </a:r>
            <a:endParaRPr lang="en-US" sz="1600" dirty="0"/>
          </a:p>
        </p:txBody>
      </p:sp>
      <p:sp>
        <p:nvSpPr>
          <p:cNvPr id="16" name="acteur Agent d'accueil"/>
          <p:cNvSpPr/>
          <p:nvPr/>
        </p:nvSpPr>
        <p:spPr>
          <a:xfrm>
            <a:off x="4754880" y="338328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3566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377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A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20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Agent 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Voit tout, supprime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Trois middlewares, trois problèmes</a:t>
            </a:r>
            <a:endParaRPr lang="en-US" sz="3200" dirty="0"/>
          </a:p>
        </p:txBody>
      </p:sp>
      <p:sp>
        <p:nvSpPr>
          <p:cNvPr id="3" name="carte Apache Tomcat"/>
          <p:cNvSpPr/>
          <p:nvPr/>
        </p:nvSpPr>
        <p:spPr>
          <a:xfrm>
            <a:off x="45720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Apache Tomcat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accent5"/>
                </a:solidFill>
              </a:rPr>
              <a:t>Middleware web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Port 8080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Problème résolu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Recevoir les requêtes HTTP et faire vivre l'application Java</a:t>
            </a:r>
            <a:endParaRPr lang="en-US" sz="1400" dirty="0"/>
          </a:p>
        </p:txBody>
      </p:sp>
      <p:sp>
        <p:nvSpPr>
          <p:cNvPr id="11" name="carte Keycloak"/>
          <p:cNvSpPr/>
          <p:nvPr/>
        </p:nvSpPr>
        <p:spPr>
          <a:xfrm>
            <a:off x="329184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1417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04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Keycloak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accent5"/>
                </a:solidFill>
              </a:rPr>
              <a:t>IAM (identités et accès)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Port 8081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Problème résolu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Savoir qui est l'utilisateur et ce qu'il a le droit de faire</a:t>
            </a:r>
            <a:endParaRPr lang="en-US" sz="1400" dirty="0"/>
          </a:p>
        </p:txBody>
      </p:sp>
      <p:sp>
        <p:nvSpPr>
          <p:cNvPr id="19" name="carte RabbitMQ"/>
          <p:cNvSpPr/>
          <p:nvPr/>
        </p:nvSpPr>
        <p:spPr>
          <a:xfrm>
            <a:off x="612648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</a:rPr>
              <a:t>RabbitMQ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chemeClr val="accent5"/>
                </a:solidFill>
              </a:rPr>
              <a:t>MOM (messages, AMQP)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Port 5672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3108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Problème résolu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Relier Rendez-vous et Notification sans perdre un message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Avant : un couplage direct</a:t>
            </a:r>
            <a:endParaRPr lang="en-US" sz="3200" dirty="0"/>
          </a:p>
        </p:txBody>
      </p:sp>
      <p:sp>
        <p:nvSpPr>
          <p:cNvPr id="3" name="box Client"/>
          <p:cNvSpPr/>
          <p:nvPr/>
        </p:nvSpPr>
        <p:spPr>
          <a:xfrm>
            <a:off x="548640" y="1371600"/>
            <a:ext cx="1645920" cy="109728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14630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Client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78308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navigateur / curl</a:t>
            </a:r>
            <a:endParaRPr lang="en-US" sz="1100" dirty="0"/>
          </a:p>
        </p:txBody>
      </p:sp>
      <p:sp>
        <p:nvSpPr>
          <p:cNvPr id="6" name="box Service Rendez-vous"/>
          <p:cNvSpPr/>
          <p:nvPr/>
        </p:nvSpPr>
        <p:spPr>
          <a:xfrm>
            <a:off x="3108960" y="1234440"/>
            <a:ext cx="237744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82112" y="13258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Service Rendez-vous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182112" y="164592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login, rôles et sessions codés à la main</a:t>
            </a:r>
            <a:endParaRPr lang="en-US" sz="1100" dirty="0"/>
          </a:p>
        </p:txBody>
      </p:sp>
      <p:sp>
        <p:nvSpPr>
          <p:cNvPr id="9" name="box Service Notification"/>
          <p:cNvSpPr/>
          <p:nvPr/>
        </p:nvSpPr>
        <p:spPr>
          <a:xfrm>
            <a:off x="6675120" y="137160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48272" y="14630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Service Notification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94560" y="192024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0" y="1920240"/>
            <a:ext cx="11887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0" y="1463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</a:rPr>
              <a:t>HTTP direct, synchrone</a:t>
            </a:r>
            <a:endParaRPr lang="en-US" sz="1100" dirty="0"/>
          </a:p>
        </p:txBody>
      </p:sp>
      <p:sp>
        <p:nvSpPr>
          <p:cNvPr id="14" name="probleme Notification arrêtée"/>
          <p:cNvSpPr/>
          <p:nvPr/>
        </p:nvSpPr>
        <p:spPr>
          <a:xfrm>
            <a:off x="457200" y="30175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3"/>
                </a:solidFill>
              </a:rPr>
              <a:t>Notification arrêtée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la création du rendez-vous échoue ou la notification est perdue</a:t>
            </a:r>
            <a:endParaRPr lang="en-US" sz="1400" dirty="0"/>
          </a:p>
        </p:txBody>
      </p:sp>
      <p:sp>
        <p:nvSpPr>
          <p:cNvPr id="17" name="probleme Sécurité recodée"/>
          <p:cNvSpPr/>
          <p:nvPr/>
        </p:nvSpPr>
        <p:spPr>
          <a:xfrm>
            <a:off x="3291840" y="30175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7472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Sécurité recodée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mots de passe et rôles à écrire dans chaque service</a:t>
            </a:r>
            <a:endParaRPr lang="en-US" sz="1400" dirty="0"/>
          </a:p>
        </p:txBody>
      </p:sp>
      <p:sp>
        <p:nvSpPr>
          <p:cNvPr id="20" name="probleme Tout à la main"/>
          <p:cNvSpPr/>
          <p:nvPr/>
        </p:nvSpPr>
        <p:spPr>
          <a:xfrm>
            <a:off x="6126480" y="30175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Tout à la main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serveur web, sessions, threads, aucune file d'attente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Après : l'architecture avec middleware</a:t>
            </a:r>
            <a:endParaRPr lang="en-US" sz="3200" dirty="0"/>
          </a:p>
        </p:txBody>
      </p:sp>
      <p:sp>
        <p:nvSpPr>
          <p:cNvPr id="3" name="box Client"/>
          <p:cNvSpPr/>
          <p:nvPr/>
        </p:nvSpPr>
        <p:spPr>
          <a:xfrm>
            <a:off x="457200" y="1143000"/>
            <a:ext cx="1371600" cy="1920240"/>
          </a:xfrm>
          <a:prstGeom prst="roundRect">
            <a:avLst>
              <a:gd name="adj" fmla="val 5333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0352" y="12344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Client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554480"/>
            <a:ext cx="1225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curl / navigateur</a:t>
            </a:r>
            <a:endParaRPr lang="en-US" sz="1100" dirty="0"/>
          </a:p>
        </p:txBody>
      </p:sp>
      <p:sp>
        <p:nvSpPr>
          <p:cNvPr id="6" name="box Keycloak :8081"/>
          <p:cNvSpPr/>
          <p:nvPr/>
        </p:nvSpPr>
        <p:spPr>
          <a:xfrm>
            <a:off x="2834640" y="1143000"/>
            <a:ext cx="164592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07792" y="12344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Keycloak :8081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07792" y="155448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IAM : jetons JWT et rôles</a:t>
            </a:r>
            <a:endParaRPr lang="en-US" sz="1000" dirty="0"/>
          </a:p>
        </p:txBody>
      </p:sp>
      <p:sp>
        <p:nvSpPr>
          <p:cNvPr id="9" name="box Tomcat :8080"/>
          <p:cNvSpPr/>
          <p:nvPr/>
        </p:nvSpPr>
        <p:spPr>
          <a:xfrm>
            <a:off x="2834640" y="2148840"/>
            <a:ext cx="16459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07792" y="224028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Tomcat :8080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25603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rdv-service (WAR)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filtre JWT + API</a:t>
            </a:r>
            <a:endParaRPr lang="en-US" sz="1100" dirty="0"/>
          </a:p>
        </p:txBody>
      </p:sp>
      <p:sp>
        <p:nvSpPr>
          <p:cNvPr id="12" name="box PostgreSQL :5432"/>
          <p:cNvSpPr/>
          <p:nvPr/>
        </p:nvSpPr>
        <p:spPr>
          <a:xfrm>
            <a:off x="2834640" y="3383280"/>
            <a:ext cx="1645920" cy="54864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07792" y="34747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PostgreSQL :5432</a:t>
            </a:r>
            <a:endParaRPr lang="en-US" sz="1300" dirty="0"/>
          </a:p>
        </p:txBody>
      </p:sp>
      <p:sp>
        <p:nvSpPr>
          <p:cNvPr id="14" name="box RabbitMQ :5672"/>
          <p:cNvSpPr/>
          <p:nvPr/>
        </p:nvSpPr>
        <p:spPr>
          <a:xfrm>
            <a:off x="5212080" y="201168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85232" y="210312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RabbitMQ :5672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85232" y="242316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exchange rdv.events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notification.queue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notification.dlq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console :15672</a:t>
            </a:r>
            <a:endParaRPr lang="en-US" sz="1000" dirty="0"/>
          </a:p>
        </p:txBody>
      </p:sp>
      <p:sp>
        <p:nvSpPr>
          <p:cNvPr id="17" name="box Notification"/>
          <p:cNvSpPr/>
          <p:nvPr/>
        </p:nvSpPr>
        <p:spPr>
          <a:xfrm>
            <a:off x="7589520" y="2148840"/>
            <a:ext cx="109728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62672" y="224028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Notification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662672" y="256032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consommateur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Java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0" y="1508760"/>
            <a:ext cx="10058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176272" y="114300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176272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0" y="2606040"/>
            <a:ext cx="10058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76272" y="224028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176272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0" y="1874520"/>
            <a:ext cx="0" cy="27432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3749040" y="1865376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49040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0" y="3063240"/>
            <a:ext cx="0" cy="32004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749040" y="3072384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74904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80560" y="2606040"/>
            <a:ext cx="7315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690872" y="224028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90872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40880" y="2606040"/>
            <a:ext cx="5486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196328" y="224028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96328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160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  </a:t>
            </a:r>
            <a:r>
              <a:rPr lang="en-US" sz="1100" dirty="0">
                <a:solidFill>
                  <a:schemeClr val="tx1"/>
                </a:solidFill>
              </a:rPr>
              <a:t>Login OIDC (:8081) → jeton JWT avec rôle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3891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2"/>
                </a:solidFill>
              </a:rPr>
              <a:t>2  </a:t>
            </a:r>
            <a:r>
              <a:rPr lang="en-US" sz="1100" dirty="0">
                <a:solidFill>
                  <a:schemeClr val="tx1"/>
                </a:solidFill>
              </a:rPr>
              <a:t>POST /rdv + Bearer JWT (HTTP/JSON)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617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2"/>
                </a:solidFill>
              </a:rPr>
              <a:t>3  </a:t>
            </a:r>
            <a:r>
              <a:rPr lang="en-US" sz="1100" dirty="0">
                <a:solidFill>
                  <a:schemeClr val="tx1"/>
                </a:solidFill>
              </a:rPr>
              <a:t>Tomcat vérifie la signature (clés JWKS)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663440" y="4160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2"/>
                </a:solidFill>
              </a:rPr>
              <a:t>4  </a:t>
            </a:r>
            <a:r>
              <a:rPr lang="en-US" sz="1100" dirty="0">
                <a:solidFill>
                  <a:schemeClr val="tx1"/>
                </a:solidFill>
              </a:rPr>
              <a:t>Enregistrement du rendez-vous (JDBC)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663440" y="43891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2"/>
                </a:solidFill>
              </a:rPr>
              <a:t>5  </a:t>
            </a:r>
            <a:r>
              <a:rPr lang="en-US" sz="1100" dirty="0">
                <a:solidFill>
                  <a:schemeClr val="tx1"/>
                </a:solidFill>
              </a:rPr>
              <a:t>Publication de rdv.created (AMQP)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663440" y="4617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chemeClr val="accent2"/>
                </a:solidFill>
              </a:rPr>
              <a:t>6  </a:t>
            </a:r>
            <a:r>
              <a:rPr lang="en-US" sz="1100" dirty="0">
                <a:solidFill>
                  <a:schemeClr val="tx1"/>
                </a:solidFill>
              </a:rPr>
              <a:t>Livraison asynchrone au consommateur</a:t>
            </a:r>
            <a:endParaRPr lang="en-US" sz="11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Installation et configuration réelles</a:t>
            </a:r>
            <a:endParaRPr lang="en-US" sz="3200" dirty="0"/>
          </a:p>
        </p:txBody>
      </p:sp>
      <p:sp>
        <p:nvSpPr>
          <p:cNvPr id="3" name="etape Outils"/>
          <p:cNvSpPr/>
          <p:nvPr/>
        </p:nvSpPr>
        <p:spPr>
          <a:xfrm>
            <a:off x="45720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Outils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Docker 29.8 · JDK 17 · Maven 3.10 · Git 2.56</a:t>
            </a:r>
            <a:endParaRPr lang="en-US" sz="1300" dirty="0"/>
          </a:p>
        </p:txBody>
      </p:sp>
      <p:sp>
        <p:nvSpPr>
          <p:cNvPr id="8" name="etape RabbitMQ 3.13.7"/>
          <p:cNvSpPr/>
          <p:nvPr/>
        </p:nvSpPr>
        <p:spPr>
          <a:xfrm>
            <a:off x="329184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RabbitMQ 3.13.7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exchange rdv.events, 2 files, binding rdv.created</a:t>
            </a:r>
            <a:endParaRPr lang="en-US" sz="1300" dirty="0"/>
          </a:p>
        </p:txBody>
      </p:sp>
      <p:sp>
        <p:nvSpPr>
          <p:cNvPr id="13" name="etape Keycloak 26.8"/>
          <p:cNvSpPr/>
          <p:nvPr/>
        </p:nvSpPr>
        <p:spPr>
          <a:xfrm>
            <a:off x="612648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37160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Keycloak 26.8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920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realm hopital, 3 rôles, client rdv-app, 3 utilisateurs</a:t>
            </a:r>
            <a:endParaRPr lang="en-US" sz="1300" dirty="0"/>
          </a:p>
        </p:txBody>
      </p:sp>
      <p:sp>
        <p:nvSpPr>
          <p:cNvPr id="18" name="etape PostgreSQL 16"/>
          <p:cNvSpPr/>
          <p:nvPr/>
        </p:nvSpPr>
        <p:spPr>
          <a:xfrm>
            <a:off x="457200" y="28803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PostgreSQL 16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base hopital, table rendez_vous</a:t>
            </a:r>
            <a:endParaRPr lang="en-US" sz="1300" dirty="0"/>
          </a:p>
        </p:txBody>
      </p:sp>
      <p:sp>
        <p:nvSpPr>
          <p:cNvPr id="23" name="etape Tomcat 10.1.60"/>
          <p:cNvSpPr/>
          <p:nvPr/>
        </p:nvSpPr>
        <p:spPr>
          <a:xfrm>
            <a:off x="3291840" y="28803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4720" y="306324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47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Tomcat 10.1.60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rdv-service déployé en WAR sur le port 8080</a:t>
            </a:r>
            <a:endParaRPr lang="en-US" sz="1300" dirty="0"/>
          </a:p>
        </p:txBody>
      </p:sp>
      <p:sp>
        <p:nvSpPr>
          <p:cNvPr id="28" name="etape Notification"/>
          <p:cNvSpPr/>
          <p:nvPr/>
        </p:nvSpPr>
        <p:spPr>
          <a:xfrm>
            <a:off x="6126480" y="2880360"/>
            <a:ext cx="26517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30632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Notification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JAR Java dans un conteneur, ack manuel + DLQ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Démo nominale : qui a le droit ?</a:t>
            </a:r>
            <a:endParaRPr lang="en-US" sz="3200" dirty="0"/>
          </a:p>
        </p:txBody>
      </p:sp>
      <p:sp>
        <p:nvSpPr>
          <p:cNvPr id="3" name="resultat 401"/>
          <p:cNvSpPr/>
          <p:nvPr/>
        </p:nvSpPr>
        <p:spPr>
          <a:xfrm>
            <a:off x="45720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401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Sans jeton</a:t>
            </a:r>
            <a:endParaRPr lang="en-US" sz="1300" dirty="0"/>
          </a:p>
        </p:txBody>
      </p:sp>
      <p:sp>
        <p:nvSpPr>
          <p:cNvPr id="6" name="resultat 201"/>
          <p:cNvSpPr/>
          <p:nvPr/>
        </p:nvSpPr>
        <p:spPr>
          <a:xfrm>
            <a:off x="256032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6032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201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patient1 crée un rendez-vous</a:t>
            </a:r>
            <a:endParaRPr lang="en-US" sz="1300" dirty="0"/>
          </a:p>
        </p:txBody>
      </p:sp>
      <p:sp>
        <p:nvSpPr>
          <p:cNvPr id="9" name="resultat 403"/>
          <p:cNvSpPr/>
          <p:nvPr/>
        </p:nvSpPr>
        <p:spPr>
          <a:xfrm>
            <a:off x="466344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3"/>
                </a:solidFill>
              </a:rPr>
              <a:t>403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patient1 sur l'agenda</a:t>
            </a:r>
            <a:endParaRPr lang="en-US" sz="1300" dirty="0"/>
          </a:p>
        </p:txBody>
      </p:sp>
      <p:sp>
        <p:nvSpPr>
          <p:cNvPr id="12" name="resultat 200"/>
          <p:cNvSpPr/>
          <p:nvPr/>
        </p:nvSpPr>
        <p:spPr>
          <a:xfrm>
            <a:off x="676656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1280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200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medecin1 sur l'agenda</a:t>
            </a:r>
            <a:endParaRPr lang="en-US" sz="1300" dirty="0"/>
          </a:p>
        </p:txBody>
      </p:sp>
      <p:sp>
        <p:nvSpPr>
          <p:cNvPr id="15" name="trace AVANT"/>
          <p:cNvSpPr/>
          <p:nvPr/>
        </p:nvSpPr>
        <p:spPr>
          <a:xfrm>
            <a:off x="457200" y="324612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AVANT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3246120"/>
            <a:ext cx="219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trace KEYCLOAK"/>
          <p:cNvSpPr/>
          <p:nvPr/>
        </p:nvSpPr>
        <p:spPr>
          <a:xfrm>
            <a:off x="2139696" y="324612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139696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KEYCLOAK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602736" y="3246120"/>
            <a:ext cx="219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trace BASE"/>
          <p:cNvSpPr/>
          <p:nvPr/>
        </p:nvSpPr>
        <p:spPr>
          <a:xfrm>
            <a:off x="3822192" y="324612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22192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BASE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85232" y="3246120"/>
            <a:ext cx="219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race RABBITMQ"/>
          <p:cNvSpPr/>
          <p:nvPr/>
        </p:nvSpPr>
        <p:spPr>
          <a:xfrm>
            <a:off x="5504688" y="324612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504688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RABBITMQ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67728" y="3246120"/>
            <a:ext cx="219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trace APRES"/>
          <p:cNvSpPr/>
          <p:nvPr/>
        </p:nvSpPr>
        <p:spPr>
          <a:xfrm>
            <a:off x="7187184" y="3246120"/>
            <a:ext cx="146304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87184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APRES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5"/>
                </a:solidFill>
              </a:rPr>
              <a:t>Une même requête POST /rdv suivie dans le journal Tomcat, thread http-nio-8080-exec-4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Démo de panne : le consommateur s'arrête</a:t>
            </a:r>
            <a:endParaRPr lang="en-US" sz="3200" dirty="0"/>
          </a:p>
        </p:txBody>
      </p:sp>
      <p:sp>
        <p:nvSpPr>
          <p:cNvPr id="3" name="phase 1  Arrêt"/>
          <p:cNvSpPr/>
          <p:nvPr/>
        </p:nvSpPr>
        <p:spPr>
          <a:xfrm>
            <a:off x="457200" y="118872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1  Arrêt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</a:rPr>
              <a:t>docker stop notification-consumer</a:t>
            </a:r>
            <a:endParaRPr lang="en-US" sz="1300" dirty="0"/>
          </a:p>
        </p:txBody>
      </p:sp>
      <p:sp>
        <p:nvSpPr>
          <p:cNvPr id="6" name="phase 2  Création"/>
          <p:cNvSpPr/>
          <p:nvPr/>
        </p:nvSpPr>
        <p:spPr>
          <a:xfrm>
            <a:off x="2560320" y="118872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9748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2  Création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737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</a:rPr>
              <a:t>15 rendez-vous pendant la panne</a:t>
            </a:r>
            <a:endParaRPr lang="en-US" sz="1300" dirty="0"/>
          </a:p>
        </p:txBody>
      </p:sp>
      <p:sp>
        <p:nvSpPr>
          <p:cNvPr id="9" name="phase 3  Accumulation"/>
          <p:cNvSpPr/>
          <p:nvPr/>
        </p:nvSpPr>
        <p:spPr>
          <a:xfrm>
            <a:off x="4663440" y="118872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3  Accumulation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737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Console : Ready = 15</a:t>
            </a:r>
            <a:endParaRPr lang="en-US" sz="1300" dirty="0"/>
          </a:p>
        </p:txBody>
      </p:sp>
      <p:sp>
        <p:nvSpPr>
          <p:cNvPr id="12" name="phase 4  Reprise"/>
          <p:cNvSpPr/>
          <p:nvPr/>
        </p:nvSpPr>
        <p:spPr>
          <a:xfrm>
            <a:off x="6766560" y="118872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372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4  Reprise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737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</a:rPr>
              <a:t>docker start : la file se vide</a:t>
            </a:r>
            <a:endParaRPr lang="en-US" sz="1300" dirty="0"/>
          </a:p>
        </p:txBody>
      </p:sp>
      <p:sp>
        <p:nvSpPr>
          <p:cNvPr id="15" name="stat réponses HTTP 201 pendant la panne"/>
          <p:cNvSpPr/>
          <p:nvPr/>
        </p:nvSpPr>
        <p:spPr>
          <a:xfrm>
            <a:off x="457200" y="278892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880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4"/>
                </a:solidFill>
              </a:rPr>
              <a:t>15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réponses HTTP 201 pendant la panne</a:t>
            </a:r>
            <a:endParaRPr lang="en-US" sz="1400" dirty="0"/>
          </a:p>
        </p:txBody>
      </p:sp>
      <p:sp>
        <p:nvSpPr>
          <p:cNvPr id="18" name="stat messages en attente puis traités"/>
          <p:cNvSpPr/>
          <p:nvPr/>
        </p:nvSpPr>
        <p:spPr>
          <a:xfrm>
            <a:off x="3291840" y="278892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91840" y="2880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1"/>
                </a:solidFill>
              </a:rPr>
              <a:t>15 → 0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messages en attente puis traités</a:t>
            </a:r>
            <a:endParaRPr lang="en-US" sz="1400" dirty="0"/>
          </a:p>
        </p:txBody>
      </p:sp>
      <p:sp>
        <p:nvSpPr>
          <p:cNvPr id="21" name="stat notification perdue"/>
          <p:cNvSpPr/>
          <p:nvPr/>
        </p:nvSpPr>
        <p:spPr>
          <a:xfrm>
            <a:off x="6126480" y="278892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2880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notification perdue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Avec ou sans middleware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Middleware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Sans lui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Avec lui (constaté)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2"/>
                          </a:solidFill>
                        </a:rPr>
                        <a:t>RabbitMQ</a:t>
                      </a:r>
                      <a:endParaRPr lang="en-US" sz="13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</a:rPr>
                        <a:t>Notification arrêtée : le rendez-vous échoue ou la notification est perdue</a:t>
                      </a:r>
                      <a:endParaRPr lang="en-US" sz="13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</a:rPr>
                        <a:t>15 rendez-vous créés pendant la panne, 15 notifications livrées</a:t>
                      </a:r>
                      <a:endParaRPr lang="en-US" sz="13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2"/>
                          </a:solidFill>
                        </a:rPr>
                        <a:t>Keycloak</a:t>
                      </a:r>
                      <a:endParaRPr lang="en-US" sz="13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</a:rPr>
                        <a:t>Mots de passe et rôles à recoder dans chaque service</a:t>
                      </a:r>
                      <a:endParaRPr lang="en-US" sz="13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</a:rPr>
                        <a:t>401, 403 ou 200 selon le jeton et le rôle</a:t>
                      </a:r>
                      <a:endParaRPr lang="en-US" sz="13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32"/>
                          </a:solidFill>
                        </a:rPr>
                        <a:t>Tomcat</a:t>
                      </a:r>
                      <a:endParaRPr lang="en-US" sz="13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</a:rPr>
                        <a:t>Serveur HTTP, threads et sessions à écrire soi-même</a:t>
                      </a:r>
                      <a:endParaRPr lang="en-US" sz="13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32"/>
                          </a:solidFill>
                        </a:rPr>
                        <a:t>Application en WAR, threads et session visibles, cycle de vie journalisé</a:t>
                      </a:r>
                      <a:endParaRPr lang="en-US" sz="13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projet démontre</a:t>
            </a:r>
            <a:endParaRPr lang="en-US" sz="3200" dirty="0"/>
          </a:p>
        </p:txBody>
      </p:sp>
      <p:sp>
        <p:nvSpPr>
          <p:cNvPr id="3" name="bilan Tomcat"/>
          <p:cNvSpPr/>
          <p:nvPr/>
        </p:nvSpPr>
        <p:spPr>
          <a:xfrm>
            <a:off x="457200" y="118872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Tomcat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Héberge l'application, rend visibles cycle de vie, threads et sessions</a:t>
            </a:r>
            <a:endParaRPr lang="en-US" sz="1400" dirty="0"/>
          </a:p>
        </p:txBody>
      </p:sp>
      <p:sp>
        <p:nvSpPr>
          <p:cNvPr id="7" name="bilan Keycloak"/>
          <p:cNvSpPr/>
          <p:nvPr/>
        </p:nvSpPr>
        <p:spPr>
          <a:xfrm>
            <a:off x="3291840" y="118872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3520440" y="1371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1480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Keycloak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0116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Authentifie et fait respecter les rôles : 401, 403, 200</a:t>
            </a:r>
            <a:endParaRPr lang="en-US" sz="1400" dirty="0"/>
          </a:p>
        </p:txBody>
      </p:sp>
      <p:sp>
        <p:nvSpPr>
          <p:cNvPr id="11" name="bilan RabbitMQ"/>
          <p:cNvSpPr/>
          <p:nvPr/>
        </p:nvSpPr>
        <p:spPr>
          <a:xfrm>
            <a:off x="6126480" y="118872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RabbitMQ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0116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Découple les services : 15 messages attendent, puis tous livrés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118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Perspectives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Table outbox · pool de connexions · HTTPS · docker-compose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 Questions ?</a:t>
            </a:r>
            <a:endParaRPr lang="en-US" sz="2000" dirty="0"/>
          </a:p>
        </p:txBody>
      </p:sp>
      <p:sp>
        <p:nvSpPr>
          <p:cNvPr id="18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dleware G2">
  <a:themeElements>
    <a:clrScheme name="Middleware G2">
      <a:dk1>
        <a:srgbClr val="1B2A32"/>
      </a:dk1>
      <a:lt1>
        <a:srgbClr val="FFFFFF"/>
      </a:lt1>
      <a:dk2>
        <a:srgbClr val="0B3C5D"/>
      </a:dk2>
      <a:lt2>
        <a:srgbClr val="EEF4F5"/>
      </a:lt2>
      <a:accent1>
        <a:srgbClr val="1D7874"/>
      </a:accent1>
      <a:accent2>
        <a:srgbClr val="F2A541"/>
      </a:accent2>
      <a:accent3>
        <a:srgbClr val="D1495B"/>
      </a:accent3>
      <a:accent4>
        <a:srgbClr val="3A7CA5"/>
      </a:accent4>
      <a:accent5>
        <a:srgbClr val="6C757D"/>
      </a:accent5>
      <a:accent6>
        <a:srgbClr val="84B59F"/>
      </a:accent6>
      <a:hlink>
        <a:srgbClr val="3A7CA5"/>
      </a:hlink>
      <a:folHlink>
        <a:srgbClr val="6C757D"/>
      </a:folHlink>
    </a:clrScheme>
    <a:fontScheme name="Middleware G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1061</Words>
  <Application>Microsoft Office PowerPoint</Application>
  <PresentationFormat>Affichage à l'écran (16:9)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Middleware G2</vt:lpstr>
      <vt:lpstr>Plateforme hospitalière de rendez-vous</vt:lpstr>
      <vt:lpstr>Un hôpital, trois acteurs</vt:lpstr>
      <vt:lpstr>Trois middlewares, trois problèmes</vt:lpstr>
      <vt:lpstr>Avant : un couplage direct</vt:lpstr>
      <vt:lpstr>Après : l'architecture avec middleware</vt:lpstr>
      <vt:lpstr>Installation et configuration réelles</vt:lpstr>
      <vt:lpstr>Démo nominale : qui a le droit ?</vt:lpstr>
      <vt:lpstr>Démo de panne : le consommateur s'arrête</vt:lpstr>
      <vt:lpstr>Avec ou sans middleware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Middleware G2</dc:title>
  <dc:subject>PptxGenJS Presentation</dc:subject>
  <dc:creator>Groupe 2</dc:creator>
  <cp:lastModifiedBy>Zoko Ange-Evelyne Guede</cp:lastModifiedBy>
  <cp:revision>2</cp:revision>
  <dcterms:created xsi:type="dcterms:W3CDTF">2026-10-06T05:39:52Z</dcterms:created>
  <dcterms:modified xsi:type="dcterms:W3CDTF">2026-10-06T08:11:32Z</dcterms:modified>
</cp:coreProperties>
</file>